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media/image1.jpeg" ContentType="image/jpe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71462EF-CE87-4BC7-B1A8-CC2F3C69D5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4242C1E-F76A-401B-9B7B-7E232493B7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EEAA620-59D3-44AB-9574-52AE0DD9F4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5DA283C-9233-4BE7-B4DD-268182B8C6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ED5F5C1-E686-43E3-9433-F98774DADF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ubTitle"/>
          </p:nvPr>
        </p:nvSpPr>
        <p:spPr>
          <a:xfrm>
            <a:off x="677160" y="609480"/>
            <a:ext cx="8596440" cy="612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C7A241F-9E16-4BF0-8FF2-6835E8E59C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F4E316B-91C1-4453-B536-786C7A3E9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508212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2DD427-7555-431D-9A63-01E2268D4D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ED0F7F-B93D-476B-93E3-0519296B28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677160" y="41875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F5B00E5-C1DA-474E-9240-BFAECCCBBD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/>
          </p:nvPr>
        </p:nvSpPr>
        <p:spPr>
          <a:xfrm>
            <a:off x="508212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DEFC1F0-EDC0-4399-953F-C3372DB38CB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358344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49008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/>
          </p:nvPr>
        </p:nvSpPr>
        <p:spPr>
          <a:xfrm>
            <a:off x="67716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/>
          </p:nvPr>
        </p:nvSpPr>
        <p:spPr>
          <a:xfrm>
            <a:off x="358344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2" name="PlaceHolder 7"/>
          <p:cNvSpPr>
            <a:spLocks noGrp="1"/>
          </p:cNvSpPr>
          <p:nvPr>
            <p:ph/>
          </p:nvPr>
        </p:nvSpPr>
        <p:spPr>
          <a:xfrm>
            <a:off x="649008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1D58F0-2D84-48C9-9850-BA415EFA9E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0B1082E-78F4-4D54-97A1-22BEB34800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718AD4E-4CC6-4DFC-8E88-6FACCFF668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66A7B7A-333D-4E1C-9469-413CCBD364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2595D35-6B96-4D30-806D-7AA177B17C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BF608DC-3DAE-4D88-8AAC-DCFF95BF36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677160" y="609480"/>
            <a:ext cx="8596440" cy="612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DDECBAE-90C0-4252-94DA-A6A690908BC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09CE9FC-E1C1-41A0-92F2-11DBDCCF94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38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508212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F378275-4342-4F8B-BED2-240954D38E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9D2AF1A-2BF9-4E98-98C4-E2C4EBDDA9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77160" y="4187520"/>
            <a:ext cx="859644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0E252B1-C88E-4DC7-A9BB-20EFE39966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5082120" y="21607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67716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/>
          </p:nvPr>
        </p:nvSpPr>
        <p:spPr>
          <a:xfrm>
            <a:off x="5082120" y="4187520"/>
            <a:ext cx="419472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8CB5BB7-30B0-46F2-BC8B-43DB22DEDDD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7716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358344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490080" y="21607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67716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/>
          </p:nvPr>
        </p:nvSpPr>
        <p:spPr>
          <a:xfrm>
            <a:off x="358344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/>
          </p:nvPr>
        </p:nvSpPr>
        <p:spPr>
          <a:xfrm>
            <a:off x="6490080" y="4187520"/>
            <a:ext cx="2767680" cy="18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ADD8A63-1A8B-4DDA-AEF6-FC4083C8842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roup 6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1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2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3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" name="Isosceles Triangle 2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11" name="Group 6"/>
          <p:cNvGrpSpPr/>
          <p:nvPr/>
        </p:nvGrpSpPr>
        <p:grpSpPr>
          <a:xfrm>
            <a:off x="360" y="-8640"/>
            <a:ext cx="12191400" cy="6866640"/>
            <a:chOff x="360" y="-8640"/>
            <a:chExt cx="12191400" cy="6866640"/>
          </a:xfrm>
        </p:grpSpPr>
        <p:cxnSp>
          <p:nvCxnSpPr>
            <p:cNvPr id="12" name="Straight Connector 31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13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14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" name="Isosceles Triangle 26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" name="Isosceles Triangle 30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" name="Isosceles Triangle 18"/>
            <p:cNvSpPr/>
            <p:nvPr/>
          </p:nvSpPr>
          <p:spPr>
            <a:xfrm rot="10800000">
              <a:off x="360" y="360"/>
              <a:ext cx="842400" cy="566568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06960" y="2404440"/>
            <a:ext cx="7766640" cy="16459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chemeClr val="accent1"/>
                </a:solidFill>
                <a:latin typeface="Trebuchet MS"/>
              </a:rPr>
              <a:t>Click to edit Master title style</a:t>
            </a:r>
            <a:endParaRPr b="0" lang="en-US" sz="54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dt" idx="1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IN" sz="900" spc="-1" strike="noStrike">
                <a:solidFill>
                  <a:srgbClr val="8b8b8b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en-IN" sz="900" spc="-1" strike="noStrike">
                <a:solidFill>
                  <a:srgbClr val="8b8b8b"/>
                </a:solidFill>
                <a:latin typeface="Trebuchet M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ftr" idx="2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sldNum" idx="3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IN" sz="900" spc="-1" strike="noStrike">
                <a:solidFill>
                  <a:schemeClr val="accent1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07492CD-8905-40F0-8C3C-182D5F8D2C7B}" type="slidenum">
              <a:rPr b="0" lang="en-IN" sz="900" spc="-1" strike="noStrike">
                <a:solidFill>
                  <a:schemeClr val="accent1"/>
                </a:solidFill>
                <a:latin typeface="Trebuchet M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404040"/>
                </a:solidFill>
                <a:latin typeface="Trebuchet MS"/>
              </a:rPr>
              <a:t>Click to edit the outline text format</a:t>
            </a: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404040"/>
                </a:solidFill>
                <a:latin typeface="Trebuchet MS"/>
              </a:rPr>
              <a:t>Second Outline Level</a:t>
            </a:r>
            <a:endParaRPr b="0" lang="en-US" sz="1400" spc="-1" strike="noStrike">
              <a:solidFill>
                <a:srgbClr val="404040"/>
              </a:solidFill>
              <a:latin typeface="Trebuchet M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404040"/>
                </a:solidFill>
                <a:latin typeface="Trebuchet MS"/>
              </a:rPr>
              <a:t>Third Outline Level</a:t>
            </a:r>
            <a:endParaRPr b="0" lang="en-US" sz="1200" spc="-1" strike="noStrike">
              <a:solidFill>
                <a:srgbClr val="404040"/>
              </a:solidFill>
              <a:latin typeface="Trebuchet M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404040"/>
                </a:solidFill>
                <a:latin typeface="Trebuchet MS"/>
              </a:rPr>
              <a:t>Fourth Outline Level</a:t>
            </a:r>
            <a:endParaRPr b="0" lang="en-US" sz="1200" spc="-1" strike="noStrike">
              <a:solidFill>
                <a:srgbClr val="404040"/>
              </a:solidFill>
              <a:latin typeface="Trebuchet M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404040"/>
                </a:solidFill>
                <a:latin typeface="Trebuchet MS"/>
              </a:rPr>
              <a:t>Fifth Outline Level</a:t>
            </a:r>
            <a:endParaRPr b="0" lang="en-US" sz="2000" spc="-1" strike="noStrike">
              <a:solidFill>
                <a:srgbClr val="404040"/>
              </a:solidFill>
              <a:latin typeface="Trebuchet M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404040"/>
                </a:solidFill>
                <a:latin typeface="Trebuchet MS"/>
              </a:rPr>
              <a:t>Sixth Outline Level</a:t>
            </a:r>
            <a:endParaRPr b="0" lang="en-US" sz="2000" spc="-1" strike="noStrike">
              <a:solidFill>
                <a:srgbClr val="404040"/>
              </a:solidFill>
              <a:latin typeface="Trebuchet M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404040"/>
                </a:solidFill>
                <a:latin typeface="Trebuchet MS"/>
              </a:rPr>
              <a:t>Seventh Outline Level</a:t>
            </a:r>
            <a:endParaRPr b="0" lang="en-US" sz="2000" spc="-1" strike="noStrike">
              <a:solidFill>
                <a:srgbClr val="404040"/>
              </a:solidFill>
              <a:latin typeface="Trebuchet M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oup 6"/>
          <p:cNvGrpSpPr/>
          <p:nvPr/>
        </p:nvGrpSpPr>
        <p:grpSpPr>
          <a:xfrm>
            <a:off x="0" y="-8640"/>
            <a:ext cx="12191760" cy="6866640"/>
            <a:chOff x="0" y="-8640"/>
            <a:chExt cx="12191760" cy="6866640"/>
          </a:xfrm>
        </p:grpSpPr>
        <p:cxnSp>
          <p:nvCxnSpPr>
            <p:cNvPr id="64" name="Straight Connector 19"/>
            <p:cNvCxnSpPr/>
            <p:nvPr/>
          </p:nvCxnSpPr>
          <p:spPr>
            <a:xfrm>
              <a:off x="9370800" y="0"/>
              <a:ext cx="1219680" cy="6858360"/>
            </a:xfrm>
            <a:prstGeom prst="straightConnector1">
              <a:avLst/>
            </a:prstGeom>
            <a:ln cap="rnd" w="9525">
              <a:solidFill>
                <a:srgbClr val="ffffff">
                  <a:lumMod val="75000"/>
                </a:srgbClr>
              </a:solidFill>
              <a:round/>
            </a:ln>
          </p:spPr>
        </p:cxnSp>
        <p:cxnSp>
          <p:nvCxnSpPr>
            <p:cNvPr id="65" name="Straight Connector 20"/>
            <p:cNvCxnSpPr/>
            <p:nvPr/>
          </p:nvCxnSpPr>
          <p:spPr>
            <a:xfrm flipH="1">
              <a:off x="7425000" y="3681360"/>
              <a:ext cx="4763880" cy="3177000"/>
            </a:xfrm>
            <a:prstGeom prst="straightConnector1">
              <a:avLst/>
            </a:prstGeom>
            <a:ln cap="rnd" w="9525">
              <a:solidFill>
                <a:srgbClr val="ffffff">
                  <a:lumMod val="85000"/>
                </a:srgbClr>
              </a:solidFill>
              <a:round/>
            </a:ln>
          </p:spPr>
        </p:cxnSp>
        <p:sp>
          <p:nvSpPr>
            <p:cNvPr id="66" name="Rectangle 23"/>
            <p:cNvSpPr/>
            <p:nvPr/>
          </p:nvSpPr>
          <p:spPr>
            <a:xfrm>
              <a:off x="9181440" y="-8640"/>
              <a:ext cx="3007080" cy="6866280"/>
            </a:xfrm>
            <a:custGeom>
              <a:avLst/>
              <a:gdLst>
                <a:gd name="textAreaLeft" fmla="*/ 0 w 3007080"/>
                <a:gd name="textAreaRight" fmla="*/ 3007440 w 3007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7" name="Rectangle 25"/>
            <p:cNvSpPr/>
            <p:nvPr/>
          </p:nvSpPr>
          <p:spPr>
            <a:xfrm>
              <a:off x="9603360" y="-8640"/>
              <a:ext cx="2588040" cy="6866280"/>
            </a:xfrm>
            <a:custGeom>
              <a:avLst/>
              <a:gdLst>
                <a:gd name="textAreaLeft" fmla="*/ 0 w 2588040"/>
                <a:gd name="textAreaRight" fmla="*/ 2588400 w 258804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Isosceles Triangle 23"/>
            <p:cNvSpPr/>
            <p:nvPr/>
          </p:nvSpPr>
          <p:spPr>
            <a:xfrm>
              <a:off x="8932320" y="3048120"/>
              <a:ext cx="3259440" cy="380952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" name="Rectangle 27"/>
            <p:cNvSpPr/>
            <p:nvPr/>
          </p:nvSpPr>
          <p:spPr>
            <a:xfrm>
              <a:off x="9334440" y="-8640"/>
              <a:ext cx="2854080" cy="6866280"/>
            </a:xfrm>
            <a:custGeom>
              <a:avLst/>
              <a:gdLst>
                <a:gd name="textAreaLeft" fmla="*/ 0 w 2854080"/>
                <a:gd name="textAreaRight" fmla="*/ 2854440 w 28540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" name="Rectangle 28"/>
            <p:cNvSpPr/>
            <p:nvPr/>
          </p:nvSpPr>
          <p:spPr>
            <a:xfrm>
              <a:off x="10898640" y="-8640"/>
              <a:ext cx="1289880" cy="6866280"/>
            </a:xfrm>
            <a:custGeom>
              <a:avLst/>
              <a:gdLst>
                <a:gd name="textAreaLeft" fmla="*/ 0 w 1289880"/>
                <a:gd name="textAreaRight" fmla="*/ 1290240 w 128988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" name="Rectangle 29"/>
            <p:cNvSpPr/>
            <p:nvPr/>
          </p:nvSpPr>
          <p:spPr>
            <a:xfrm>
              <a:off x="10938960" y="-8640"/>
              <a:ext cx="1249560" cy="6866280"/>
            </a:xfrm>
            <a:custGeom>
              <a:avLst/>
              <a:gdLst>
                <a:gd name="textAreaLeft" fmla="*/ 0 w 1249560"/>
                <a:gd name="textAreaRight" fmla="*/ 1249920 w 1249560"/>
                <a:gd name="textAreaTop" fmla="*/ 0 h 6866280"/>
                <a:gd name="textAreaBottom" fmla="*/ 6866640 h 6866280"/>
              </a:gdLst>
              <a:ahLst/>
              <a:rect l="textAreaLeft" t="textAreaTop" r="textAreaRight" b="textAreaBottom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" name="Isosceles Triangle 27"/>
            <p:cNvSpPr/>
            <p:nvPr/>
          </p:nvSpPr>
          <p:spPr>
            <a:xfrm>
              <a:off x="10371600" y="3589920"/>
              <a:ext cx="1816920" cy="326772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3" name="Isosceles Triangle 28"/>
            <p:cNvSpPr/>
            <p:nvPr/>
          </p:nvSpPr>
          <p:spPr>
            <a:xfrm>
              <a:off x="0" y="4013280"/>
              <a:ext cx="448200" cy="284436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>
              <a:outerShdw blurRad="38160" dir="5400000" dist="2556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accent1"/>
                </a:solidFill>
                <a:latin typeface="Trebuchet MS"/>
              </a:rPr>
              <a:t>Click to edit Master title style</a:t>
            </a:r>
            <a:endParaRPr b="0" lang="en-US" sz="3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77160" y="2160720"/>
            <a:ext cx="8596440" cy="3880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0" lang="en-US" sz="1800" spc="-1" strike="noStrike">
                <a:solidFill>
                  <a:srgbClr val="404040"/>
                </a:solidFill>
                <a:latin typeface="Trebuchet MS"/>
              </a:rPr>
              <a:t>Click to edit Master text styles</a:t>
            </a:r>
            <a:endParaRPr b="0" lang="en-US" sz="1800" spc="-1" strike="noStrike">
              <a:solidFill>
                <a:srgbClr val="404040"/>
              </a:solidFill>
              <a:latin typeface="Trebuchet MS"/>
            </a:endParaRPr>
          </a:p>
          <a:p>
            <a:pPr lvl="1" marL="743040" indent="-28584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0" lang="en-US" sz="1600" spc="-1" strike="noStrike">
                <a:solidFill>
                  <a:srgbClr val="404040"/>
                </a:solidFill>
                <a:latin typeface="Trebuchet MS"/>
              </a:rPr>
              <a:t>Second level</a:t>
            </a:r>
            <a:endParaRPr b="0" lang="en-US" sz="1600" spc="-1" strike="noStrike">
              <a:solidFill>
                <a:srgbClr val="404040"/>
              </a:solidFill>
              <a:latin typeface="Trebuchet MS"/>
            </a:endParaRPr>
          </a:p>
          <a:p>
            <a:pPr lvl="2" marL="1143000" indent="-2286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0" lang="en-US" sz="1400" spc="-1" strike="noStrike">
                <a:solidFill>
                  <a:srgbClr val="404040"/>
                </a:solidFill>
                <a:latin typeface="Trebuchet MS"/>
              </a:rPr>
              <a:t>Third level</a:t>
            </a:r>
            <a:endParaRPr b="0" lang="en-US" sz="1400" spc="-1" strike="noStrike">
              <a:solidFill>
                <a:srgbClr val="404040"/>
              </a:solidFill>
              <a:latin typeface="Trebuchet MS"/>
            </a:endParaRPr>
          </a:p>
          <a:p>
            <a:pPr lvl="3" marL="1600200" indent="-2286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0" lang="en-US" sz="1200" spc="-1" strike="noStrike">
                <a:solidFill>
                  <a:srgbClr val="404040"/>
                </a:solidFill>
                <a:latin typeface="Trebuchet MS"/>
              </a:rPr>
              <a:t>Fourth level</a:t>
            </a:r>
            <a:endParaRPr b="0" lang="en-US" sz="1200" spc="-1" strike="noStrike">
              <a:solidFill>
                <a:srgbClr val="404040"/>
              </a:solidFill>
              <a:latin typeface="Trebuchet MS"/>
            </a:endParaRPr>
          </a:p>
          <a:p>
            <a:pPr lvl="4" marL="2057400" indent="-22860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0" lang="en-US" sz="1200" spc="-1" strike="noStrike">
                <a:solidFill>
                  <a:srgbClr val="404040"/>
                </a:solidFill>
                <a:latin typeface="Trebuchet MS"/>
              </a:rPr>
              <a:t>Fifth level</a:t>
            </a:r>
            <a:endParaRPr b="0" lang="en-US" sz="1200" spc="-1" strike="noStrike">
              <a:solidFill>
                <a:srgbClr val="404040"/>
              </a:solidFill>
              <a:latin typeface="Trebuchet MS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dt" idx="4"/>
          </p:nvPr>
        </p:nvSpPr>
        <p:spPr>
          <a:xfrm>
            <a:off x="7205040" y="6041520"/>
            <a:ext cx="9115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IN" sz="900" spc="-1" strike="noStrike">
                <a:solidFill>
                  <a:srgbClr val="8b8b8b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b="0" lang="en-IN" sz="900" spc="-1" strike="noStrike">
                <a:solidFill>
                  <a:srgbClr val="8b8b8b"/>
                </a:solidFill>
                <a:latin typeface="Trebuchet MS"/>
              </a:rPr>
              <a:t>&lt;date/time&gt;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ftr" idx="5"/>
          </p:nvPr>
        </p:nvSpPr>
        <p:spPr>
          <a:xfrm>
            <a:off x="677160" y="6041520"/>
            <a:ext cx="6297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sldNum" idx="6"/>
          </p:nvPr>
        </p:nvSpPr>
        <p:spPr>
          <a:xfrm>
            <a:off x="8590680" y="6041520"/>
            <a:ext cx="6829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IN" sz="900" spc="-1" strike="noStrike">
                <a:solidFill>
                  <a:schemeClr val="accent1"/>
                </a:solidFill>
                <a:latin typeface="Trebuchet M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8D11834-278A-4CE9-BD4F-5FDA57931065}" type="slidenum">
              <a:rPr b="0" lang="en-IN" sz="900" spc="-1" strike="noStrike">
                <a:solidFill>
                  <a:schemeClr val="accent1"/>
                </a:solidFill>
                <a:latin typeface="Trebuchet MS"/>
              </a:rPr>
              <a:t>&lt;number&gt;</a:t>
            </a:fld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506960" y="745560"/>
            <a:ext cx="7766640" cy="20613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5400" spc="-1" strike="noStrike">
                <a:solidFill>
                  <a:schemeClr val="accent1"/>
                </a:solidFill>
                <a:latin typeface="Trebuchet MS"/>
              </a:rPr>
              <a:t>DBMS Project</a:t>
            </a:r>
            <a:br>
              <a:rPr sz="5400"/>
            </a:br>
            <a:r>
              <a:rPr b="0" lang="en-US" sz="6000" spc="-1" strike="noStrike">
                <a:solidFill>
                  <a:srgbClr val="000000"/>
                </a:solidFill>
                <a:latin typeface="Trebuchet MS"/>
              </a:rPr>
              <a:t>Hospital management system</a:t>
            </a:r>
            <a:endParaRPr b="0" lang="en-US" sz="60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1506960" y="2807280"/>
            <a:ext cx="8438400" cy="31010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 algn="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algn="r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000000"/>
                </a:solidFill>
                <a:latin typeface="Trebuchet MS"/>
              </a:rPr>
              <a:t>Problem statement:</a:t>
            </a:r>
            <a:br>
              <a:rPr sz="3600"/>
            </a:br>
            <a:endParaRPr b="0" lang="en-US" sz="3600" spc="-1" strike="noStrike">
              <a:solidFill>
                <a:srgbClr val="000000"/>
              </a:solidFill>
              <a:latin typeface="Trebuchet MS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677160" y="1449000"/>
            <a:ext cx="8596440" cy="45921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>
              <a:lnSpc>
                <a:spcPct val="100000"/>
              </a:lnSpc>
              <a:spcBef>
                <a:spcPts val="1001"/>
              </a:spcBef>
              <a:buClr>
                <a:srgbClr val="90c226"/>
              </a:buClr>
              <a:buSzPct val="80000"/>
              <a:buFont typeface="Wingdings 3" charset="2"/>
              <a:buChar char=""/>
            </a:pPr>
            <a:r>
              <a:rPr b="1" lang="en-IN" sz="2800" spc="-1" strike="noStrike">
                <a:solidFill>
                  <a:srgbClr val="000000"/>
                </a:solidFill>
                <a:latin typeface="Trebuchet MS"/>
              </a:rPr>
              <a:t>Design and implement a Hospital Management System (HMS) to streamline the operations of a hospital. The system should maintain information about patients, doctors, medical services, and other relevant entities. The primary objective is to create a centralized database-driven system that efficiently manages various aspects of hospital operations.</a:t>
            </a:r>
            <a:endParaRPr b="0" lang="en-US" sz="2800" spc="-1" strike="noStrike">
              <a:solidFill>
                <a:srgbClr val="404040"/>
              </a:solidFill>
              <a:latin typeface="Trebuchet M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77160" y="609480"/>
            <a:ext cx="8596440" cy="13204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Trebuchet MS"/>
              </a:rPr>
              <a:t>ER diagram:</a:t>
            </a:r>
            <a:endParaRPr b="0" lang="en-US" sz="3600" spc="-1" strike="noStrike">
              <a:solidFill>
                <a:srgbClr val="000000"/>
              </a:solidFill>
              <a:latin typeface="Trebuchet MS"/>
            </a:endParaRPr>
          </a:p>
        </p:txBody>
      </p:sp>
      <p:pic>
        <p:nvPicPr>
          <p:cNvPr id="120" name="Content Placeholder 4" descr=""/>
          <p:cNvPicPr/>
          <p:nvPr/>
        </p:nvPicPr>
        <p:blipFill>
          <a:blip r:embed="rId1"/>
          <a:stretch/>
        </p:blipFill>
        <p:spPr>
          <a:xfrm>
            <a:off x="0" y="1449000"/>
            <a:ext cx="12191760" cy="5408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Facet">
  <a:themeElements>
    <a:clrScheme name="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Application>LibreOffice/7.5.4.2$Windows_X86_64 LibreOffice_project/36ccfdc35048b057fd9854c757a8b67ec53977b6</Application>
  <AppVersion>15.0000</AppVersion>
  <Words>83</Words>
  <Paragraphs>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2024-05-03T19:04:22Z</dcterms:created>
  <dc:creator>Paras Sharma</dc:creator>
  <dc:description/>
  <dc:language>en-US</dc:language>
  <cp:lastModifiedBy/>
  <dcterms:modified xsi:type="dcterms:W3CDTF">2024-08-10T11:48:49Z</dcterms:modified>
  <cp:revision>5</cp:revision>
  <dc:subject/>
  <dc:title>DBMS Project Hospital management system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</vt:i4>
  </property>
</Properties>
</file>